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warm and confident. You are presenting to a customer, not an exam panel. One sentence: you are here to show how Boomi connects Salesforce, Oracle and the warehouse into one clean, governed flow. Do not start with features.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hook. Say the pain in the customer's voice and earn the 'yes, that is us'. Spend real time here. If they nod, you have won the framing. Do not rush to Boomi yet.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Borrow from their deck slide 2 (pillars) and slide 6 (the 5 essential characteristics). Keep it to one breath. The customer does not need a product tour, they need to believe one platform can do all of this. Then pivot straight to your solution.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ONE clean diagram. Reuse their architecture/topology slides; do not redraw. Walk the order flow left to right. This is the proof you understood every requirement and reached for the right pattern. Reference the build guide mapping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you out-class other candidates. Lead with the queue / maintenance window answer; do not wait to be asked. It shows you think like an integration architect, not a connector-dragger. See presentation-round doc section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Boomi. Narrate VALUE, not clicks. For every shape say the why and the customer benefit. Run Build A first (the safe one), then Build B. If a live run breaks, fall back to your screenshots and walk the design. See build guide sections A and 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every point back to the pain from slide 2. This is the close of the sales argument. Outcomes in business language, not technical features.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differentiator. Other candidates work only off the dated deck. The 2026 story (Data Activation Company, control layer, Agentstudio, MCP) shows current homework. Pull details from boomi-integration-prep.html. Deliver the closing line with conviction.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in three lines, then open for questions. Have your Q&amp;A answers ready (presentation-round doc section 10): the queue, performance at 500k, on-prem security, Oracle-down, Boomi vs MuleSoft. End by asking THEM a sharp question about the SC team or deal motion.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4EE0"/>
        </a:solidFill>
        <a:effectLst/>
      </p:bgPr>
    </p:bg>
    <p:spTree>
      <p:nvGrpSpPr>
        <p:cNvPr id="1" name=""/>
        <p:cNvGrpSpPr/>
        <p:nvPr/>
      </p:nvGrpSpPr>
      <p:grpSpPr/>
      <p:sp>
        <p:nvSpPr>
          <p:cNvPr id="2" name="TextBox 1"/>
          <p:cNvSpPr txBox="1"/>
          <p:nvPr/>
        </p:nvSpPr>
        <p:spPr>
          <a:xfrm>
            <a:off x="822960" y="2194560"/>
            <a:ext cx="10515600" cy="1828800"/>
          </a:xfrm>
          <a:prstGeom prst="rect">
            <a:avLst/>
          </a:prstGeom>
          <a:noFill/>
        </p:spPr>
        <p:txBody>
          <a:bodyPr wrap="square">
            <a:spAutoFit/>
          </a:bodyPr>
          <a:lstStyle/>
          <a:p>
            <a:pPr algn="l">
              <a:spcAft>
                <a:spcPts val="800"/>
              </a:spcAft>
            </a:pPr>
            <a:r>
              <a:rPr sz="4400" b="1">
                <a:solidFill>
                  <a:srgbClr val="FFFFFF"/>
                </a:solidFill>
                <a:latin typeface="Calibri"/>
              </a:rPr>
              <a:t>Connecting the Business on Boomi</a:t>
            </a:r>
          </a:p>
          <a:p>
            <a:pPr algn="l">
              <a:spcAft>
                <a:spcPts val="400"/>
              </a:spcAft>
            </a:pPr>
            <a:r>
              <a:rPr sz="2200" b="0">
                <a:solidFill>
                  <a:srgbClr val="E0ECFF"/>
                </a:solidFill>
                <a:latin typeface="Calibri"/>
              </a:rPr>
              <a:t>A solution and live demonstration for [Client]</a:t>
            </a:r>
          </a:p>
        </p:txBody>
      </p:sp>
      <p:sp>
        <p:nvSpPr>
          <p:cNvPr id="3" name="TextBox 2"/>
          <p:cNvSpPr txBox="1"/>
          <p:nvPr/>
        </p:nvSpPr>
        <p:spPr>
          <a:xfrm>
            <a:off x="822960" y="4206240"/>
            <a:ext cx="10515600" cy="914400"/>
          </a:xfrm>
          <a:prstGeom prst="rect">
            <a:avLst/>
          </a:prstGeom>
          <a:noFill/>
        </p:spPr>
        <p:txBody>
          <a:bodyPr wrap="square">
            <a:spAutoFit/>
          </a:bodyPr>
          <a:lstStyle/>
          <a:p>
            <a:pPr algn="l">
              <a:spcAft>
                <a:spcPts val="800"/>
              </a:spcAft>
            </a:pPr>
            <a:r>
              <a:rPr sz="1800" b="0">
                <a:solidFill>
                  <a:srgbClr val="FFFFFF"/>
                </a:solidFill>
                <a:latin typeface="Calibri"/>
              </a:rPr>
              <a:t>Niroo Arjuna  |  Presales Solutions Consultant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C4EE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64592"/>
          <a:lstStyle/>
          <a:p>
            <a:pPr algn="l">
              <a:spcAft>
                <a:spcPts val="0"/>
              </a:spcAft>
            </a:pPr>
            <a:r>
              <a:rPr sz="2600" b="1">
                <a:solidFill>
                  <a:srgbClr val="FFFFFF"/>
                </a:solidFill>
                <a:latin typeface="Calibri"/>
              </a:rPr>
              <a:t>The problem: four systems, no conversation</a:t>
            </a:r>
          </a:p>
        </p:txBody>
      </p:sp>
      <p:sp>
        <p:nvSpPr>
          <p:cNvPr id="3" name="TextBox 2"/>
          <p:cNvSpPr txBox="1"/>
          <p:nvPr/>
        </p:nvSpPr>
        <p:spPr>
          <a:xfrm>
            <a:off x="548640" y="1691640"/>
            <a:ext cx="11064240" cy="4754880"/>
          </a:xfrm>
          <a:prstGeom prst="rect">
            <a:avLst/>
          </a:prstGeom>
          <a:noFill/>
        </p:spPr>
        <p:txBody>
          <a:bodyPr wrap="square">
            <a:spAutoFit/>
          </a:bodyPr>
          <a:lstStyle/>
          <a:p>
            <a:pPr algn="l">
              <a:spcAft>
                <a:spcPts val="1000"/>
              </a:spcAft>
            </a:pPr>
            <a:r>
              <a:rPr sz="1800" b="1">
                <a:solidFill>
                  <a:srgbClr val="0F172A"/>
                </a:solidFill>
                <a:latin typeface="Calibri"/>
              </a:rPr>
              <a:t>You are moving to Salesforce. Good call. But Salesforce alone does not fix the real issue:</a:t>
            </a:r>
          </a:p>
          <a:p>
            <a:pPr algn="l">
              <a:spcAft>
                <a:spcPts val="1000"/>
              </a:spcAft>
            </a:pPr>
            <a:r>
              <a:rPr sz="1600" b="0">
                <a:solidFill>
                  <a:srgbClr val="475569"/>
                </a:solidFill>
                <a:latin typeface="Calibri"/>
              </a:rPr>
              <a:t>    - Sales is in Salesforce, finance in Oracle, the warehouse is its own island</a:t>
            </a:r>
          </a:p>
          <a:p>
            <a:pPr algn="l">
              <a:spcAft>
                <a:spcPts val="1000"/>
              </a:spcAft>
            </a:pPr>
            <a:r>
              <a:rPr sz="1600" b="0">
                <a:solidFill>
                  <a:srgbClr val="475569"/>
                </a:solidFill>
                <a:latin typeface="Calibri"/>
              </a:rPr>
              <a:t>    - Reps can book a $1M order with no approval and no trail</a:t>
            </a:r>
          </a:p>
          <a:p>
            <a:pPr algn="l">
              <a:spcAft>
                <a:spcPts val="1000"/>
              </a:spcAft>
            </a:pPr>
            <a:r>
              <a:rPr sz="1600" b="0">
                <a:solidFill>
                  <a:srgbClr val="475569"/>
                </a:solidFill>
                <a:latin typeface="Calibri"/>
              </a:rPr>
              <a:t>    - When a customer asks where their order is, service reps are blind</a:t>
            </a:r>
          </a:p>
          <a:p>
            <a:pPr algn="l">
              <a:spcAft>
                <a:spcPts val="1000"/>
              </a:spcAft>
            </a:pPr>
            <a:r>
              <a:rPr sz="1600" b="0">
                <a:solidFill>
                  <a:srgbClr val="475569"/>
                </a:solidFill>
                <a:latin typeface="Calibri"/>
              </a:rPr>
              <a:t>    - The warehouse goes down weekly and you fear taking orders in that window</a:t>
            </a:r>
          </a:p>
          <a:p>
            <a:pPr algn="l">
              <a:spcAft>
                <a:spcPts val="1000"/>
              </a:spcAft>
            </a:pPr>
            <a:r>
              <a:rPr sz="1600" b="0">
                <a:solidFill>
                  <a:srgbClr val="475569"/>
                </a:solidFill>
                <a:latin typeface="Calibri"/>
              </a:rPr>
              <a:t>    - 500,000+ balance records are exported nightly and someone babysits the load</a:t>
            </a:r>
          </a:p>
          <a:p>
            <a:pPr algn="l">
              <a:spcAft>
                <a:spcPts val="1000"/>
              </a:spcAft>
            </a:pPr>
            <a:r>
              <a:rPr sz="1800" b="1">
                <a:solidFill>
                  <a:srgbClr val="0F172A"/>
                </a:solidFill>
                <a:latin typeface="Calibri"/>
              </a:rPr>
              <a:t>The cost: manual re-keying, errors, slow order to cash, poor customer experience,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C4EE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64592"/>
          <a:lstStyle/>
          <a:p>
            <a:pPr algn="l">
              <a:spcAft>
                <a:spcPts val="0"/>
              </a:spcAft>
            </a:pPr>
            <a:r>
              <a:rPr sz="2600" b="1">
                <a:solidFill>
                  <a:srgbClr val="FFFFFF"/>
                </a:solidFill>
                <a:latin typeface="Calibri"/>
              </a:rPr>
              <a:t>Boomi: one platform to connect it all</a:t>
            </a:r>
          </a:p>
        </p:txBody>
      </p:sp>
      <p:sp>
        <p:nvSpPr>
          <p:cNvPr id="3" name="TextBox 2"/>
          <p:cNvSpPr txBox="1"/>
          <p:nvPr/>
        </p:nvSpPr>
        <p:spPr>
          <a:xfrm>
            <a:off x="548640" y="1691640"/>
            <a:ext cx="11064240" cy="4754880"/>
          </a:xfrm>
          <a:prstGeom prst="rect">
            <a:avLst/>
          </a:prstGeom>
          <a:noFill/>
        </p:spPr>
        <p:txBody>
          <a:bodyPr wrap="square">
            <a:spAutoFit/>
          </a:bodyPr>
          <a:lstStyle/>
          <a:p>
            <a:pPr algn="l">
              <a:spcAft>
                <a:spcPts val="1000"/>
              </a:spcAft>
            </a:pPr>
            <a:r>
              <a:rPr sz="1800" b="1">
                <a:solidFill>
                  <a:srgbClr val="0F172A"/>
                </a:solidFill>
                <a:latin typeface="Calibri"/>
              </a:rPr>
              <a:t>An integration platform is the connective tissue between every system you run.</a:t>
            </a:r>
          </a:p>
          <a:p>
            <a:pPr algn="l">
              <a:spcAft>
                <a:spcPts val="1000"/>
              </a:spcAft>
            </a:pPr>
            <a:r>
              <a:rPr sz="1600" b="0">
                <a:solidFill>
                  <a:srgbClr val="475569"/>
                </a:solidFill>
                <a:latin typeface="Calibri"/>
              </a:rPr>
              <a:t>    - Integration: connect applications and data, real-time or batch</a:t>
            </a:r>
          </a:p>
          <a:p>
            <a:pPr algn="l">
              <a:spcAft>
                <a:spcPts val="1000"/>
              </a:spcAft>
            </a:pPr>
            <a:r>
              <a:rPr sz="1600" b="0">
                <a:solidFill>
                  <a:srgbClr val="475569"/>
                </a:solidFill>
                <a:latin typeface="Calibri"/>
              </a:rPr>
              <a:t>    - API Management, Event Streams, B2B/EDI, Master Data Hub, Flow, all in one platform</a:t>
            </a:r>
          </a:p>
          <a:p>
            <a:pPr algn="l">
              <a:spcAft>
                <a:spcPts val="1000"/>
              </a:spcAft>
            </a:pPr>
            <a:r>
              <a:rPr sz="1800" b="1">
                <a:solidFill>
                  <a:srgbClr val="0F172A"/>
                </a:solidFill>
                <a:latin typeface="Calibri"/>
              </a:rPr>
              <a:t>Why Boomi specifically:</a:t>
            </a:r>
          </a:p>
          <a:p>
            <a:pPr algn="l">
              <a:spcAft>
                <a:spcPts val="1000"/>
              </a:spcAft>
            </a:pPr>
            <a:r>
              <a:rPr sz="1600" b="0">
                <a:solidFill>
                  <a:srgbClr val="475569"/>
                </a:solidFill>
                <a:latin typeface="Calibri"/>
              </a:rPr>
              <a:t>    - Low-code and fast time to value, deliver projects in days not quarters</a:t>
            </a:r>
          </a:p>
          <a:p>
            <a:pPr algn="l">
              <a:spcAft>
                <a:spcPts val="1000"/>
              </a:spcAft>
            </a:pPr>
            <a:r>
              <a:rPr sz="1600" b="0">
                <a:solidFill>
                  <a:srgbClr val="475569"/>
                </a:solidFill>
                <a:latin typeface="Calibri"/>
              </a:rPr>
              <a:t>    - Cloud-native, distributed runtime you can run anywhere, cloud to on-prem to edge</a:t>
            </a:r>
          </a:p>
          <a:p>
            <a:pPr algn="l">
              <a:spcAft>
                <a:spcPts val="1000"/>
              </a:spcAft>
            </a:pPr>
            <a:r>
              <a:rPr sz="1600" b="0">
                <a:solidFill>
                  <a:srgbClr val="475569"/>
                </a:solidFill>
                <a:latin typeface="Calibri"/>
              </a:rPr>
              <a:t>    - One control point instead of stitching four tools together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C4EE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64592"/>
          <a:lstStyle/>
          <a:p>
            <a:pPr algn="l">
              <a:spcAft>
                <a:spcPts val="0"/>
              </a:spcAft>
            </a:pPr>
            <a:r>
              <a:rPr sz="2600" b="1">
                <a:solidFill>
                  <a:srgbClr val="FFFFFF"/>
                </a:solidFill>
                <a:latin typeface="Calibri"/>
              </a:rPr>
              <a:t>Solution architecture</a:t>
            </a:r>
          </a:p>
        </p:txBody>
      </p:sp>
      <p:sp>
        <p:nvSpPr>
          <p:cNvPr id="3" name="TextBox 2"/>
          <p:cNvSpPr txBox="1"/>
          <p:nvPr/>
        </p:nvSpPr>
        <p:spPr>
          <a:xfrm>
            <a:off x="457200" y="1143000"/>
            <a:ext cx="11247120" cy="365760"/>
          </a:xfrm>
          <a:prstGeom prst="rect">
            <a:avLst/>
          </a:prstGeom>
          <a:noFill/>
        </p:spPr>
        <p:txBody>
          <a:bodyPr wrap="square">
            <a:spAutoFit/>
          </a:bodyPr>
          <a:lstStyle/>
          <a:p>
            <a:pPr algn="l">
              <a:spcAft>
                <a:spcPts val="800"/>
              </a:spcAft>
            </a:pPr>
            <a:r>
              <a:rPr sz="1300" b="0">
                <a:solidFill>
                  <a:srgbClr val="475569"/>
                </a:solidFill>
                <a:latin typeface="Calibri"/>
              </a:rPr>
              <a:t>Drop in their topology slide (10 to 12) to show the Atom behind the firewall</a:t>
            </a:r>
          </a:p>
        </p:txBody>
      </p:sp>
      <p:sp>
        <p:nvSpPr>
          <p:cNvPr id="4" name="TextBox 3"/>
          <p:cNvSpPr txBox="1"/>
          <p:nvPr/>
        </p:nvSpPr>
        <p:spPr>
          <a:xfrm>
            <a:off x="548640" y="1920240"/>
            <a:ext cx="11064240" cy="4754880"/>
          </a:xfrm>
          <a:prstGeom prst="rect">
            <a:avLst/>
          </a:prstGeom>
          <a:noFill/>
        </p:spPr>
        <p:txBody>
          <a:bodyPr wrap="square">
            <a:spAutoFit/>
          </a:bodyPr>
          <a:lstStyle/>
          <a:p>
            <a:pPr algn="l">
              <a:spcAft>
                <a:spcPts val="1000"/>
              </a:spcAft>
            </a:pPr>
            <a:r>
              <a:rPr sz="1700" b="1">
                <a:solidFill>
                  <a:srgbClr val="0F172A"/>
                </a:solidFill>
                <a:latin typeface="Calibri"/>
              </a:rPr>
              <a:t>Salesforce (cloud) on the left, Boomi as the hub, Oracle + WMS + SQL Server behind the firewall.</a:t>
            </a:r>
          </a:p>
          <a:p>
            <a:pPr algn="l">
              <a:spcAft>
                <a:spcPts val="1000"/>
              </a:spcAft>
            </a:pPr>
            <a:r>
              <a:rPr sz="1700" b="1">
                <a:solidFill>
                  <a:srgbClr val="0F172A"/>
                </a:solidFill>
                <a:latin typeface="Calibri"/>
              </a:rPr>
              <a:t>A local Atom runtime sits inside the network, outbound-only to the control plane.</a:t>
            </a:r>
          </a:p>
          <a:p>
            <a:pPr algn="l">
              <a:spcAft>
                <a:spcPts val="1000"/>
              </a:spcAft>
            </a:pPr>
            <a:r>
              <a:rPr sz="1700" b="1">
                <a:solidFill>
                  <a:srgbClr val="0F172A"/>
                </a:solidFill>
                <a:latin typeface="Calibri"/>
              </a:rPr>
              <a:t>Every requirement maps to a pattern:</a:t>
            </a:r>
          </a:p>
          <a:p>
            <a:pPr algn="l">
              <a:spcAft>
                <a:spcPts val="1000"/>
              </a:spcAft>
            </a:pPr>
            <a:r>
              <a:rPr sz="1500" b="0">
                <a:solidFill>
                  <a:srgbClr val="475569"/>
                </a:solidFill>
                <a:latin typeface="Calibri"/>
              </a:rPr>
              <a:t>    - New SFDC order, route on amount, create in Oracle, return the SO number to the rep</a:t>
            </a:r>
          </a:p>
          <a:p>
            <a:pPr algn="l">
              <a:spcAft>
                <a:spcPts val="1000"/>
              </a:spcAft>
            </a:pPr>
            <a:r>
              <a:rPr sz="1500" b="0">
                <a:solidFill>
                  <a:srgbClr val="475569"/>
                </a:solidFill>
                <a:latin typeface="Calibri"/>
              </a:rPr>
              <a:t>    - Order to the warehouse via a queue so capture never blocks (resilience, see next slide)</a:t>
            </a:r>
          </a:p>
          <a:p>
            <a:pPr algn="l">
              <a:spcAft>
                <a:spcPts val="1000"/>
              </a:spcAft>
            </a:pPr>
            <a:r>
              <a:rPr sz="1500" b="0">
                <a:solidFill>
                  <a:srgbClr val="475569"/>
                </a:solidFill>
                <a:latin typeface="Calibri"/>
              </a:rPr>
              <a:t>    - Order status from Oracle and WMS synced back into Salesforce for service reps</a:t>
            </a:r>
          </a:p>
          <a:p>
            <a:pPr algn="l">
              <a:spcAft>
                <a:spcPts val="1000"/>
              </a:spcAft>
            </a:pPr>
            <a:r>
              <a:rPr sz="1500" b="0">
                <a:solidFill>
                  <a:srgbClr val="475569"/>
                </a:solidFill>
                <a:latin typeface="Calibri"/>
              </a:rPr>
              <a:t>    - Nightly 500k balance file batched into the SQL Server warehouse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C4EE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64592"/>
          <a:lstStyle/>
          <a:p>
            <a:pPr algn="l">
              <a:spcAft>
                <a:spcPts val="0"/>
              </a:spcAft>
            </a:pPr>
            <a:r>
              <a:rPr sz="2600" b="1">
                <a:solidFill>
                  <a:srgbClr val="FFFFFF"/>
                </a:solidFill>
                <a:latin typeface="Calibri"/>
              </a:rPr>
              <a:t>Design that earns trust</a:t>
            </a:r>
          </a:p>
        </p:txBody>
      </p:sp>
      <p:sp>
        <p:nvSpPr>
          <p:cNvPr id="3" name="TextBox 2"/>
          <p:cNvSpPr txBox="1"/>
          <p:nvPr/>
        </p:nvSpPr>
        <p:spPr>
          <a:xfrm>
            <a:off x="548640" y="1463040"/>
            <a:ext cx="11064240" cy="4754880"/>
          </a:xfrm>
          <a:prstGeom prst="rect">
            <a:avLst/>
          </a:prstGeom>
          <a:noFill/>
        </p:spPr>
        <p:txBody>
          <a:bodyPr wrap="square">
            <a:spAutoFit/>
          </a:bodyPr>
          <a:lstStyle/>
          <a:p>
            <a:pPr algn="l">
              <a:spcAft>
                <a:spcPts val="1000"/>
              </a:spcAft>
            </a:pPr>
            <a:r>
              <a:rPr sz="1700" b="1">
                <a:solidFill>
                  <a:srgbClr val="0F172A"/>
                </a:solidFill>
                <a:latin typeface="Calibri"/>
              </a:rPr>
              <a:t>The $1M approval rule, enforced automatically</a:t>
            </a:r>
          </a:p>
          <a:p>
            <a:pPr algn="l">
              <a:spcAft>
                <a:spcPts val="1000"/>
              </a:spcAft>
            </a:pPr>
            <a:r>
              <a:rPr sz="1500" b="0">
                <a:solidFill>
                  <a:srgbClr val="475569"/>
                </a:solidFill>
                <a:latin typeface="Calibri"/>
              </a:rPr>
              <a:t>    - A Decision in the flow routes high-value orders for senior approval before processing</a:t>
            </a:r>
          </a:p>
          <a:p>
            <a:pPr algn="l">
              <a:spcAft>
                <a:spcPts val="1000"/>
              </a:spcAft>
            </a:pPr>
            <a:r>
              <a:rPr sz="1700" b="1">
                <a:solidFill>
                  <a:srgbClr val="0F172A"/>
                </a:solidFill>
                <a:latin typeface="Calibri"/>
              </a:rPr>
              <a:t>The resilient warehouse queue (the one that matters)</a:t>
            </a:r>
          </a:p>
          <a:p>
            <a:pPr algn="l">
              <a:spcAft>
                <a:spcPts val="1000"/>
              </a:spcAft>
            </a:pPr>
            <a:r>
              <a:rPr sz="1500" b="0">
                <a:solidFill>
                  <a:srgbClr val="475569"/>
                </a:solidFill>
                <a:latin typeface="Calibri"/>
              </a:rPr>
              <a:t>    - Order capture never depends on the warehouse being up</a:t>
            </a:r>
          </a:p>
          <a:p>
            <a:pPr algn="l">
              <a:spcAft>
                <a:spcPts val="1000"/>
              </a:spcAft>
            </a:pPr>
            <a:r>
              <a:rPr sz="1500" b="0">
                <a:solidFill>
                  <a:srgbClr val="475569"/>
                </a:solidFill>
                <a:latin typeface="Calibri"/>
              </a:rPr>
              <a:t>    - Orders publish to a queue; it buffers during the 4-hour window and drains on resume</a:t>
            </a:r>
          </a:p>
          <a:p>
            <a:pPr algn="l">
              <a:spcAft>
                <a:spcPts val="1000"/>
              </a:spcAft>
            </a:pPr>
            <a:r>
              <a:rPr sz="1500" b="0">
                <a:solidFill>
                  <a:srgbClr val="475569"/>
                </a:solidFill>
                <a:latin typeface="Calibri"/>
              </a:rPr>
              <a:t>    - Retry with backoff, dead-letter on failure, nothing is ever silently dropped</a:t>
            </a:r>
          </a:p>
          <a:p>
            <a:pPr algn="l">
              <a:spcAft>
                <a:spcPts val="1000"/>
              </a:spcAft>
            </a:pPr>
            <a:r>
              <a:rPr sz="1700" b="1">
                <a:solidFill>
                  <a:srgbClr val="0F172A"/>
                </a:solidFill>
                <a:latin typeface="Calibri"/>
              </a:rPr>
              <a:t>The nightly batch</a:t>
            </a:r>
          </a:p>
          <a:p>
            <a:pPr algn="l">
              <a:spcAft>
                <a:spcPts val="1000"/>
              </a:spcAft>
            </a:pPr>
            <a:r>
              <a:rPr sz="1500" b="0">
                <a:solidFill>
                  <a:srgbClr val="475569"/>
                </a:solidFill>
                <a:latin typeface="Calibri"/>
              </a:rPr>
              <a:t>    - Validate, route bad rows to an error report, load the clean 500k at scale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4EE0"/>
        </a:solidFill>
        <a:effectLst/>
      </p:bgPr>
    </p:bg>
    <p:spTree>
      <p:nvGrpSpPr>
        <p:cNvPr id="1" name=""/>
        <p:cNvGrpSpPr/>
        <p:nvPr/>
      </p:nvGrpSpPr>
      <p:grpSpPr/>
      <p:sp>
        <p:nvSpPr>
          <p:cNvPr id="2" name="TextBox 1"/>
          <p:cNvSpPr txBox="1"/>
          <p:nvPr/>
        </p:nvSpPr>
        <p:spPr>
          <a:xfrm>
            <a:off x="822960" y="2377440"/>
            <a:ext cx="10515600" cy="2011680"/>
          </a:xfrm>
          <a:prstGeom prst="rect">
            <a:avLst/>
          </a:prstGeom>
          <a:noFill/>
        </p:spPr>
        <p:txBody>
          <a:bodyPr wrap="square">
            <a:spAutoFit/>
          </a:bodyPr>
          <a:lstStyle/>
          <a:p>
            <a:pPr algn="l">
              <a:spcAft>
                <a:spcPts val="800"/>
              </a:spcAft>
            </a:pPr>
            <a:r>
              <a:rPr sz="4000" b="1">
                <a:solidFill>
                  <a:srgbClr val="FFFFFF"/>
                </a:solidFill>
                <a:latin typeface="Calibri"/>
              </a:rPr>
              <a:t>Live demo</a:t>
            </a:r>
          </a:p>
          <a:p>
            <a:pPr algn="l">
              <a:spcAft>
                <a:spcPts val="200"/>
              </a:spcAft>
            </a:pPr>
            <a:r>
              <a:rPr sz="2200" b="0">
                <a:solidFill>
                  <a:srgbClr val="E0ECFF"/>
                </a:solidFill>
                <a:latin typeface="Calibri"/>
              </a:rPr>
              <a:t>Switching to the Boomi platform</a:t>
            </a:r>
          </a:p>
          <a:p>
            <a:pPr algn="l">
              <a:spcAft>
                <a:spcPts val="200"/>
              </a:spcAft>
            </a:pPr>
            <a:r>
              <a:rPr sz="1700" b="0">
                <a:solidFill>
                  <a:srgbClr val="FFFFFF"/>
                </a:solidFill>
                <a:latin typeface="Calibri"/>
              </a:rPr>
              <a:t>1) Nightly balance load with validation and error handling</a:t>
            </a:r>
          </a:p>
          <a:p>
            <a:pPr algn="l">
              <a:spcAft>
                <a:spcPts val="800"/>
              </a:spcAft>
            </a:pPr>
            <a:r>
              <a:rPr sz="1700" b="0">
                <a:solidFill>
                  <a:srgbClr val="FFFFFF"/>
                </a:solidFill>
                <a:latin typeface="Calibri"/>
              </a:rPr>
              <a:t>2) A real Salesforce order routed on the $1M rule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C4EE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64592"/>
          <a:lstStyle/>
          <a:p>
            <a:pPr algn="l">
              <a:spcAft>
                <a:spcPts val="0"/>
              </a:spcAft>
            </a:pPr>
            <a:r>
              <a:rPr sz="2600" b="1">
                <a:solidFill>
                  <a:srgbClr val="FFFFFF"/>
                </a:solidFill>
                <a:latin typeface="Calibri"/>
              </a:rPr>
              <a:t>What this delivers</a:t>
            </a:r>
          </a:p>
        </p:txBody>
      </p:sp>
      <p:sp>
        <p:nvSpPr>
          <p:cNvPr id="3" name="TextBox 2"/>
          <p:cNvSpPr txBox="1"/>
          <p:nvPr/>
        </p:nvSpPr>
        <p:spPr>
          <a:xfrm>
            <a:off x="548640" y="1691640"/>
            <a:ext cx="11064240" cy="4754880"/>
          </a:xfrm>
          <a:prstGeom prst="rect">
            <a:avLst/>
          </a:prstGeom>
          <a:noFill/>
        </p:spPr>
        <p:txBody>
          <a:bodyPr wrap="square">
            <a:spAutoFit/>
          </a:bodyPr>
          <a:lstStyle/>
          <a:p>
            <a:pPr algn="l">
              <a:spcAft>
                <a:spcPts val="1000"/>
              </a:spcAft>
            </a:pPr>
            <a:r>
              <a:rPr sz="1900" b="1">
                <a:solidFill>
                  <a:srgbClr val="0F172A"/>
                </a:solidFill>
                <a:latin typeface="Calibri"/>
              </a:rPr>
              <a:t>Speed to value: a working order flow in days, not a multi-quarter build</a:t>
            </a:r>
          </a:p>
          <a:p>
            <a:pPr algn="l">
              <a:spcAft>
                <a:spcPts val="1000"/>
              </a:spcAft>
            </a:pPr>
            <a:r>
              <a:rPr sz="1900" b="1">
                <a:solidFill>
                  <a:srgbClr val="0F172A"/>
                </a:solidFill>
                <a:latin typeface="Calibri"/>
              </a:rPr>
              <a:t>Lower cost and risk: low-code, reusable components, one platform to run and govern</a:t>
            </a:r>
          </a:p>
          <a:p>
            <a:pPr algn="l">
              <a:spcAft>
                <a:spcPts val="1000"/>
              </a:spcAft>
            </a:pPr>
            <a:r>
              <a:rPr sz="1900" b="1">
                <a:solidFill>
                  <a:srgbClr val="0F172A"/>
                </a:solidFill>
                <a:latin typeface="Calibri"/>
              </a:rPr>
              <a:t>Governance: your $1M approval rule enforced on every order, automatically</a:t>
            </a:r>
          </a:p>
          <a:p>
            <a:pPr algn="l">
              <a:spcAft>
                <a:spcPts val="1000"/>
              </a:spcAft>
            </a:pPr>
            <a:r>
              <a:rPr sz="1900" b="1">
                <a:solidFill>
                  <a:srgbClr val="0F172A"/>
                </a:solidFill>
                <a:latin typeface="Calibri"/>
              </a:rPr>
              <a:t>Customer experience: service reps answer order questions straight from Salesforce</a:t>
            </a:r>
          </a:p>
          <a:p>
            <a:pPr algn="l">
              <a:spcAft>
                <a:spcPts val="1000"/>
              </a:spcAft>
            </a:pPr>
            <a:r>
              <a:rPr sz="1900" b="1">
                <a:solidFill>
                  <a:srgbClr val="0F172A"/>
                </a:solidFill>
                <a:latin typeface="Calibri"/>
              </a:rPr>
              <a:t>Resilience: weekly warehouse maintenance stops being a business risk</a:t>
            </a:r>
          </a:p>
          <a:p>
            <a:pPr algn="l">
              <a:spcAft>
                <a:spcPts val="1000"/>
              </a:spcAft>
            </a:pPr>
            <a:r>
              <a:rPr sz="1900" b="1">
                <a:solidFill>
                  <a:srgbClr val="0F172A"/>
                </a:solidFill>
                <a:latin typeface="Calibri"/>
              </a:rPr>
              <a:t>Trusted reporting: clean, validated data landing in the warehouse every night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C4EE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64592"/>
          <a:lstStyle/>
          <a:p>
            <a:pPr algn="l">
              <a:spcAft>
                <a:spcPts val="0"/>
              </a:spcAft>
            </a:pPr>
            <a:r>
              <a:rPr sz="2600" b="1">
                <a:solidFill>
                  <a:srgbClr val="FFFFFF"/>
                </a:solidFill>
                <a:latin typeface="Calibri"/>
              </a:rPr>
              <a:t>Where Boomi takes you next</a:t>
            </a:r>
          </a:p>
        </p:txBody>
      </p:sp>
      <p:sp>
        <p:nvSpPr>
          <p:cNvPr id="3" name="TextBox 2"/>
          <p:cNvSpPr txBox="1"/>
          <p:nvPr/>
        </p:nvSpPr>
        <p:spPr>
          <a:xfrm>
            <a:off x="457200" y="1143000"/>
            <a:ext cx="11247120" cy="365760"/>
          </a:xfrm>
          <a:prstGeom prst="rect">
            <a:avLst/>
          </a:prstGeom>
          <a:noFill/>
        </p:spPr>
        <p:txBody>
          <a:bodyPr wrap="square">
            <a:spAutoFit/>
          </a:bodyPr>
          <a:lstStyle/>
          <a:p>
            <a:pPr algn="l">
              <a:spcAft>
                <a:spcPts val="800"/>
              </a:spcAft>
            </a:pPr>
            <a:r>
              <a:rPr sz="1300" b="0">
                <a:solidFill>
                  <a:srgbClr val="475569"/>
                </a:solidFill>
                <a:latin typeface="Calibri"/>
              </a:rPr>
              <a:t>Bonus: beyond this use case</a:t>
            </a:r>
          </a:p>
        </p:txBody>
      </p:sp>
      <p:sp>
        <p:nvSpPr>
          <p:cNvPr id="4" name="TextBox 3"/>
          <p:cNvSpPr txBox="1"/>
          <p:nvPr/>
        </p:nvSpPr>
        <p:spPr>
          <a:xfrm>
            <a:off x="548640" y="1920240"/>
            <a:ext cx="11064240" cy="4754880"/>
          </a:xfrm>
          <a:prstGeom prst="rect">
            <a:avLst/>
          </a:prstGeom>
          <a:noFill/>
        </p:spPr>
        <p:txBody>
          <a:bodyPr wrap="square">
            <a:spAutoFit/>
          </a:bodyPr>
          <a:lstStyle/>
          <a:p>
            <a:pPr algn="l">
              <a:spcAft>
                <a:spcPts val="1000"/>
              </a:spcAft>
            </a:pPr>
            <a:r>
              <a:rPr sz="1600" b="1">
                <a:solidFill>
                  <a:srgbClr val="0F172A"/>
                </a:solidFill>
                <a:latin typeface="Calibri"/>
              </a:rPr>
              <a:t>Everything today is integration, but what you really get is governed, activated data.</a:t>
            </a:r>
          </a:p>
          <a:p>
            <a:pPr algn="l">
              <a:spcAft>
                <a:spcPts val="1000"/>
              </a:spcAft>
            </a:pPr>
            <a:r>
              <a:rPr sz="1600" b="1">
                <a:solidFill>
                  <a:srgbClr val="0F172A"/>
                </a:solidFill>
                <a:latin typeface="Calibri"/>
              </a:rPr>
              <a:t>That foundation unlocks the rest of the platform:</a:t>
            </a:r>
          </a:p>
          <a:p>
            <a:pPr algn="l">
              <a:spcAft>
                <a:spcPts val="1000"/>
              </a:spcAft>
            </a:pPr>
            <a:r>
              <a:rPr sz="1400" b="0">
                <a:solidFill>
                  <a:srgbClr val="475569"/>
                </a:solidFill>
                <a:latin typeface="Calibri"/>
              </a:rPr>
              <a:t>    - Agentstudio: put governed AI agents on top of this data (75,000+ agents in production)</a:t>
            </a:r>
          </a:p>
          <a:p>
            <a:pPr algn="l">
              <a:spcAft>
                <a:spcPts val="1000"/>
              </a:spcAft>
            </a:pPr>
            <a:r>
              <a:rPr sz="1400" b="0">
                <a:solidFill>
                  <a:srgbClr val="475569"/>
                </a:solidFill>
                <a:latin typeface="Calibri"/>
              </a:rPr>
              <a:t>    - Boomi Connect and MCP: the same connectivity lets Claude, Copilot or Gemini reach Oracle safely</a:t>
            </a:r>
          </a:p>
          <a:p>
            <a:pPr algn="l">
              <a:spcAft>
                <a:spcPts val="1000"/>
              </a:spcAft>
            </a:pPr>
            <a:r>
              <a:rPr sz="1400" b="0">
                <a:solidFill>
                  <a:srgbClr val="475569"/>
                </a:solidFill>
                <a:latin typeface="Calibri"/>
              </a:rPr>
              <a:t>    - API Management: expose the order flow as a governed API</a:t>
            </a:r>
          </a:p>
          <a:p>
            <a:pPr algn="l">
              <a:spcAft>
                <a:spcPts val="1000"/>
              </a:spcAft>
            </a:pPr>
            <a:r>
              <a:rPr sz="1400" b="0">
                <a:solidFill>
                  <a:srgbClr val="475569"/>
                </a:solidFill>
                <a:latin typeface="Calibri"/>
              </a:rPr>
              <a:t>    - Flow: build the approval screen as a low-code app</a:t>
            </a:r>
          </a:p>
          <a:p>
            <a:pPr algn="l">
              <a:spcAft>
                <a:spcPts val="1000"/>
              </a:spcAft>
            </a:pPr>
            <a:r>
              <a:rPr sz="1400" b="0">
                <a:solidFill>
                  <a:srgbClr val="475569"/>
                </a:solidFill>
                <a:latin typeface="Calibri"/>
              </a:rPr>
              <a:t>    - Master Data Hub: one golden customer record across all four systems</a:t>
            </a:r>
          </a:p>
          <a:p>
            <a:pPr algn="l">
              <a:spcAft>
                <a:spcPts val="1000"/>
              </a:spcAft>
            </a:pPr>
            <a:r>
              <a:rPr sz="1600" b="1">
                <a:solidFill>
                  <a:srgbClr val="0F172A"/>
                </a:solidFill>
                <a:latin typeface="Calibri"/>
              </a:rPr>
              <a:t>You are not just connecting Salesforce to Oracle, you are building the control layer for an AI-ready business.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4EE0"/>
        </a:solidFill>
        <a:effectLst/>
      </p:bgPr>
    </p:bg>
    <p:spTree>
      <p:nvGrpSpPr>
        <p:cNvPr id="1" name=""/>
        <p:cNvGrpSpPr/>
        <p:nvPr/>
      </p:nvGrpSpPr>
      <p:grpSpPr/>
      <p:sp>
        <p:nvSpPr>
          <p:cNvPr id="2" name="TextBox 1"/>
          <p:cNvSpPr txBox="1"/>
          <p:nvPr/>
        </p:nvSpPr>
        <p:spPr>
          <a:xfrm>
            <a:off x="822960" y="2103120"/>
            <a:ext cx="10515600" cy="2377440"/>
          </a:xfrm>
          <a:prstGeom prst="rect">
            <a:avLst/>
          </a:prstGeom>
          <a:noFill/>
        </p:spPr>
        <p:txBody>
          <a:bodyPr wrap="square">
            <a:spAutoFit/>
          </a:bodyPr>
          <a:lstStyle/>
          <a:p>
            <a:pPr algn="l">
              <a:spcAft>
                <a:spcPts val="800"/>
              </a:spcAft>
            </a:pPr>
            <a:r>
              <a:rPr sz="3800" b="1">
                <a:solidFill>
                  <a:srgbClr val="FFFFFF"/>
                </a:solidFill>
                <a:latin typeface="Calibri"/>
              </a:rPr>
              <a:t>Recap and next steps</a:t>
            </a:r>
          </a:p>
          <a:p>
            <a:pPr algn="l">
              <a:spcAft>
                <a:spcPts val="600"/>
              </a:spcAft>
            </a:pPr>
            <a:r>
              <a:rPr sz="1900" b="0">
                <a:solidFill>
                  <a:srgbClr val="E0ECFF"/>
                </a:solidFill>
                <a:latin typeface="Calibri"/>
              </a:rPr>
              <a:t>One platform connecting Salesforce, Oracle, the warehouse and your reporting</a:t>
            </a:r>
          </a:p>
          <a:p>
            <a:pPr algn="l">
              <a:spcAft>
                <a:spcPts val="600"/>
              </a:spcAft>
            </a:pPr>
            <a:r>
              <a:rPr sz="1900" b="0">
                <a:solidFill>
                  <a:srgbClr val="E0ECFF"/>
                </a:solidFill>
                <a:latin typeface="Calibri"/>
              </a:rPr>
              <a:t>Your governance and resilience built in, not bolted on</a:t>
            </a:r>
          </a:p>
          <a:p>
            <a:pPr algn="l">
              <a:spcAft>
                <a:spcPts val="600"/>
              </a:spcAft>
            </a:pPr>
            <a:r>
              <a:rPr sz="1900" b="0">
                <a:solidFill>
                  <a:srgbClr val="E0ECFF"/>
                </a:solidFill>
                <a:latin typeface="Calibri"/>
              </a:rPr>
              <a:t>A foundation that is ready for APIs, master data and AI when you are</a:t>
            </a:r>
          </a:p>
        </p:txBody>
      </p:sp>
      <p:sp>
        <p:nvSpPr>
          <p:cNvPr id="3" name="TextBox 2"/>
          <p:cNvSpPr txBox="1"/>
          <p:nvPr/>
        </p:nvSpPr>
        <p:spPr>
          <a:xfrm>
            <a:off x="822960" y="4937760"/>
            <a:ext cx="10515600" cy="731520"/>
          </a:xfrm>
          <a:prstGeom prst="rect">
            <a:avLst/>
          </a:prstGeom>
          <a:noFill/>
        </p:spPr>
        <p:txBody>
          <a:bodyPr wrap="square">
            <a:spAutoFit/>
          </a:bodyPr>
          <a:lstStyle/>
          <a:p>
            <a:pPr algn="l">
              <a:spcAft>
                <a:spcPts val="800"/>
              </a:spcAft>
            </a:pPr>
            <a:r>
              <a:rPr sz="2000" b="1">
                <a:solidFill>
                  <a:srgbClr val="FFFFFF"/>
                </a:solidFill>
                <a:latin typeface="Calibri"/>
              </a:rPr>
              <a:t>Thank you. What questions can I answer?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